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</p:sldIdLst>
  <p:sldSz cx="9144000" cy="5143500" type="screen16x9"/>
  <p:notesSz cx="5143500" cy="9144000"/>
  <p:embeddedFontLst>
    <p:embeddedFont>
      <p:font typeface="DM Sans Bold" panose="020B0604020202020204" charset="0"/>
      <p:regular r:id="rId12"/>
    </p:embeddedFont>
    <p:embeddedFont>
      <p:font typeface="DM Sans SemiBold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480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Welcome everyone. Today I'm presenting a project proposal for HTC End-to-End Visibility Monitoring.
• This is an extension of our existing Hard Time Configuration Slot Visibility Monitoring framework—we're building on what we already have in place.
• The key enhancement: we're adding automated alerts for part movement and serial number integrity.
• This addresses a critical gap in our maintenance operations—real-time visibility into component tracking and verification throughout the maintenance lifecycle.
• This proposal is for June 2026 implementation, Version 1.0.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494830"/>
            <a:ext cx="501138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HTC End-to-End Visibility Monitoring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593404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Extension of the Hard Time Configuration Slot Visibility Monitoring framework — adding automated alerts for part movement and serial number integrity.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433316"/>
            <a:ext cx="1333723" cy="215354"/>
          </a:xfrm>
          <a:prstGeom prst="roundRect">
            <a:avLst>
              <a:gd name="adj" fmla="val 22119"/>
            </a:avLst>
          </a:prstGeom>
          <a:solidFill>
            <a:srgbClr val="D0E2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81174" y="3475806"/>
            <a:ext cx="162081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PROJECT PROPOSAL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900684" y="3433316"/>
            <a:ext cx="787747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370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1985739" y="3475806"/>
            <a:ext cx="107483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370E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JUNE 2026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759273" y="3433316"/>
            <a:ext cx="850702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1370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2844329" y="3475806"/>
            <a:ext cx="113779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370E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VERSION 1.0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E85DB4-4675-EC67-7D2D-54A6D3137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971" y="21654"/>
            <a:ext cx="355102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597" y="43297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49597" y="1159474"/>
            <a:ext cx="4004965" cy="1053182"/>
          </a:xfrm>
          <a:prstGeom prst="roundRect">
            <a:avLst>
              <a:gd name="adj" fmla="val 5654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96118" y="1305995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Alert A — MMC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8" y="1612507"/>
            <a:ext cx="37119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Weekly notification when an HTC part  become MMC from any HT config slot.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96320" y="1159474"/>
            <a:ext cx="4005039" cy="1053182"/>
          </a:xfrm>
          <a:prstGeom prst="roundRect">
            <a:avLst>
              <a:gd name="adj" fmla="val 5654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642841" y="1305995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Alert B — XXX S/N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42841" y="1612507"/>
            <a:ext cx="37119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Weekly alert when an HTC part with placeholder serial number 'XXX' is installed on a config slot.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36662"/>
            <a:ext cx="4722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Background &amp; Origin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96119" y="999827"/>
            <a:ext cx="4722763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 March 2026, the MPTC team lacked visibility of newly created HT config slots in Maintenix. Required maintenance tasks were not always defined timely, creating compliance gaps.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699171"/>
            <a:ext cx="4722763" cy="9275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3762" y="1839664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93762" y="2104355"/>
            <a:ext cx="438462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automated notification mechanism existed in Maintenix for HT slot creation events.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739182"/>
            <a:ext cx="4722763" cy="9275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3762" y="2879675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Corrective Action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693762" y="3144366"/>
            <a:ext cx="438462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Daily service email to ac-mp-engg@ethiopianairlines.com — implemented and confirmed operational by April 7, 2026.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779193"/>
            <a:ext cx="4722763" cy="92757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3762" y="3919686"/>
            <a:ext cx="4384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RCCA Reference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693762" y="4184377"/>
            <a:ext cx="438462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RCCA No. 08-April-2026 | IT Ticket #6115802 | Team: Solomon Alemu, Dawit Negash, Pineal Dibaba, Birhanu Mossie.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Consolidated HTC Alert Architecture</a:t>
            </a:r>
            <a:endParaRPr lang="en-US" sz="1350" dirty="0"/>
          </a:p>
        </p:txBody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60" y="1293763"/>
            <a:ext cx="8151763" cy="37306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6467309" y="1879297"/>
            <a:ext cx="2211913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XXX  </a:t>
            </a: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Serial Number Alert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467310" y="2168818"/>
            <a:ext cx="1987578" cy="135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59246" y="3214701"/>
            <a:ext cx="1827290" cy="450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HTC Part MMC Alert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688908" y="3440107"/>
            <a:ext cx="1827290" cy="270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78000"/>
              </a:lnSpc>
              <a:buNone/>
            </a:pP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467310" y="3738644"/>
            <a:ext cx="1803246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Slot Creation Alert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467310" y="4028165"/>
            <a:ext cx="1987578" cy="135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New HT config slot created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298859" y="715476"/>
            <a:ext cx="8608963" cy="4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Together, these three layers establish fully automated end-to-end HTC visibility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 covering slot creation, part movement, and serial number integrity across all fleets.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96119" y="1209978"/>
            <a:ext cx="3485038" cy="17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existing slot-creation alert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does not cover two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subsequent HTC lifecycle stages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carrying equally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high airworthiness risk.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074" y="28287"/>
            <a:ext cx="5086926" cy="508692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96119" y="27912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Residual Risk — Gaps Not Yet Addressed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99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Project Scope &amp;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09961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 Scope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533674"/>
            <a:ext cx="8151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Alert A: HTC MMCs — triggers from analysis of an attach/detach events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Alert B: HTC XXX S/N — triggers on placeholder serial number install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Email format, recipients, and frequency definition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MPTC&amp;MPRC procedure updates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749079"/>
            <a:ext cx="4004965" cy="826368"/>
          </a:xfrm>
          <a:prstGeom prst="roundRect">
            <a:avLst>
              <a:gd name="adj" fmla="val 7205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2640" y="2895600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Objective 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2640" y="3202112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 HTC part MMC unnoticed &gt;10 business 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2749079"/>
            <a:ext cx="4005039" cy="826368"/>
          </a:xfrm>
          <a:prstGeom prst="roundRect">
            <a:avLst>
              <a:gd name="adj" fmla="val 7205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789363" y="2895600"/>
            <a:ext cx="3711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Objective 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789363" y="3202112"/>
            <a:ext cx="371199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XXX S/N flagged before next maintenance cycle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3717206"/>
            <a:ext cx="8151763" cy="826368"/>
          </a:xfrm>
          <a:prstGeom prst="roundRect">
            <a:avLst>
              <a:gd name="adj" fmla="val 7205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2640" y="3863727"/>
            <a:ext cx="7858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Objective 3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2640" y="4170238"/>
            <a:ext cx="7858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Eliminate manual Maintenix queries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1462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Proposed Alert Details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29680"/>
            <a:ext cx="640928" cy="215354"/>
          </a:xfrm>
          <a:prstGeom prst="roundRect">
            <a:avLst>
              <a:gd name="adj" fmla="val 22119"/>
            </a:avLst>
          </a:prstGeom>
          <a:solidFill>
            <a:srgbClr val="D0E2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81174" y="1772171"/>
            <a:ext cx="92801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ALERT 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96119" y="20017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HTC Part MMC Alert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36495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Triggers when an HTC part is detached and remained MMC for up to 10 days from any TRK-class HT config slot.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172941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Frequency: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Weekly at 08:00 EAT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Recipients: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MPRC team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Verify MMC HT parts, and advise respective section to take action upon.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1729680"/>
            <a:ext cx="634975" cy="215354"/>
          </a:xfrm>
          <a:prstGeom prst="roundRect">
            <a:avLst>
              <a:gd name="adj" fmla="val 22119"/>
            </a:avLst>
          </a:prstGeom>
          <a:solidFill>
            <a:srgbClr val="D0E2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34756" y="1772171"/>
            <a:ext cx="92206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ALERT B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49701" y="2001738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HTC XXX Serial Number Alert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9701" y="236495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Triggers when an HTC part with S/N 'XXX' is installed on an HT config slot.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2946127"/>
            <a:ext cx="3902943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Frequency: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Weekly at 08:00 EAT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Recipients: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MPRC team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Verify and Resolve actual S/N, update Maintenix,….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567"/>
            <a:ext cx="8151763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Implementation Plan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64856" y="856357"/>
            <a:ext cx="14288" cy="3895502"/>
          </a:xfrm>
          <a:prstGeom prst="roundRect">
            <a:avLst>
              <a:gd name="adj" fmla="val 49998"/>
            </a:avLst>
          </a:prstGeom>
          <a:solidFill>
            <a:srgbClr val="B6C8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4166071" y="963811"/>
            <a:ext cx="305619" cy="14288"/>
          </a:xfrm>
          <a:prstGeom prst="roundRect">
            <a:avLst>
              <a:gd name="adj" fmla="val 49998"/>
            </a:avLst>
          </a:prstGeom>
          <a:solidFill>
            <a:srgbClr val="B6C8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457402" y="856357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495614" y="875444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891332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96119" y="1094482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Proposal review &amp; approval — Mgr.  MPTC &amp; MPRC 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72310" y="1517824"/>
            <a:ext cx="305619" cy="14288"/>
          </a:xfrm>
          <a:prstGeom prst="roundRect">
            <a:avLst>
              <a:gd name="adj" fmla="val 49998"/>
            </a:avLst>
          </a:prstGeom>
          <a:solidFill>
            <a:srgbClr val="B6C8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457402" y="1410370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495614" y="142945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81439" y="1445344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81439" y="1648495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IT technical analysis &amp; query design 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66071" y="2016100"/>
            <a:ext cx="305619" cy="14288"/>
          </a:xfrm>
          <a:prstGeom prst="roundRect">
            <a:avLst>
              <a:gd name="adj" fmla="val 49998"/>
            </a:avLst>
          </a:prstGeom>
          <a:solidFill>
            <a:srgbClr val="B6C8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457402" y="1908646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495614" y="1927733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6119" y="1943621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W2–3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6119" y="2146771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Developement of the required system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72310" y="2514377"/>
            <a:ext cx="305619" cy="14288"/>
          </a:xfrm>
          <a:prstGeom prst="roundRect">
            <a:avLst>
              <a:gd name="adj" fmla="val 49998"/>
            </a:avLst>
          </a:prstGeom>
          <a:solidFill>
            <a:srgbClr val="B6C8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457402" y="2406923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495614" y="242601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81439" y="2441897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W3–4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81439" y="2645048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Testing and verifying the developed system.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66071" y="3012653"/>
            <a:ext cx="305619" cy="14288"/>
          </a:xfrm>
          <a:prstGeom prst="roundRect">
            <a:avLst>
              <a:gd name="adj" fmla="val 49998"/>
            </a:avLst>
          </a:prstGeom>
          <a:solidFill>
            <a:srgbClr val="B6C8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457402" y="2905199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495614" y="2924287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6119" y="2940174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119" y="3143324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Production deployment 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72310" y="3510930"/>
            <a:ext cx="305619" cy="14288"/>
          </a:xfrm>
          <a:prstGeom prst="roundRect">
            <a:avLst>
              <a:gd name="adj" fmla="val 49998"/>
            </a:avLst>
          </a:prstGeom>
          <a:solidFill>
            <a:srgbClr val="B6C8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457402" y="3403476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495614" y="3422563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1439" y="3438451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W5–6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81439" y="3641601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MPRC procedure update  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66071" y="4009206"/>
            <a:ext cx="305619" cy="14288"/>
          </a:xfrm>
          <a:prstGeom prst="roundRect">
            <a:avLst>
              <a:gd name="adj" fmla="val 49998"/>
            </a:avLst>
          </a:prstGeom>
          <a:solidFill>
            <a:srgbClr val="B6C8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457402" y="3901753"/>
            <a:ext cx="229195" cy="229195"/>
          </a:xfrm>
          <a:prstGeom prst="roundRect">
            <a:avLst>
              <a:gd name="adj" fmla="val 18672"/>
            </a:avLst>
          </a:prstGeom>
          <a:solidFill>
            <a:srgbClr val="D0E2FB"/>
          </a:solidFill>
          <a:ln w="4763">
            <a:solidFill>
              <a:srgbClr val="B6C8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495614" y="3920840"/>
            <a:ext cx="152772" cy="191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6119" y="3936727"/>
            <a:ext cx="3566443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W10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6119" y="4139878"/>
            <a:ext cx="3566443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8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30-day effectiveness review  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5238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Stakeholders 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352080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</a:t>
            </a:r>
            <a:r>
              <a:rPr lang="en-US" sz="13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Solomon Alemu</a:t>
            </a:r>
            <a:r>
              <a:rPr 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&amp; </a:t>
            </a:r>
            <a:r>
              <a:rPr lang="en-US" sz="13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Yohannes Teklegiorgis </a:t>
            </a:r>
            <a:r>
              <a:rPr 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— Project owner, requirements, monitoring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630239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Gobena Uluka</a:t>
            </a:r>
            <a:r>
              <a:rPr lang="en-US" sz="1350" dirty="0">
                <a:solidFill>
                  <a:srgbClr val="00000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— Sponsor, approver, escalation authority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306429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619</Words>
  <Application>Microsoft Office PowerPoint</Application>
  <PresentationFormat>On-screen Show (16:9)</PresentationFormat>
  <Paragraphs>91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DM Sans Bold</vt:lpstr>
      <vt:lpstr>Inter Medium</vt:lpstr>
      <vt:lpstr>Arial</vt:lpstr>
      <vt:lpstr>DM Sans SemiBold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Solomon Alemu(Mr.)</dc:creator>
  <cp:lastModifiedBy>Solomon Alemu(Mr.)</cp:lastModifiedBy>
  <cp:revision>2</cp:revision>
  <dcterms:created xsi:type="dcterms:W3CDTF">2026-07-28T08:32:43Z</dcterms:created>
  <dcterms:modified xsi:type="dcterms:W3CDTF">2026-07-30T11:59:31Z</dcterms:modified>
</cp:coreProperties>
</file>